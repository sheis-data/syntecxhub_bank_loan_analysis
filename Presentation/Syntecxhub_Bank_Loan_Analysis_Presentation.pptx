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2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78DDB-9A56-42E7-8E22-1592DBB605D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9E2B4-7A39-4DE0-B690-254C93DBE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2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9E2B4-7A39-4DE0-B690-254C93DBE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9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21240" y="0"/>
            <a:ext cx="2267712" cy="201168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52760" y="6263640"/>
            <a:ext cx="1536192" cy="59436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A600"/>
                </a:solidFill>
                <a:latin typeface="Aptos Display"/>
              </a:defRPr>
            </a:pPr>
            <a:r>
              <a:t>BANK LOAN ANALYSIS</a:t>
            </a:r>
          </a:p>
          <a:p>
            <a:pPr algn="ctr">
              <a:defRPr sz="2500">
                <a:solidFill>
                  <a:srgbClr val="FFFFFF"/>
                </a:solidFill>
                <a:latin typeface="Aptos"/>
              </a:defRPr>
            </a:pPr>
            <a:r>
              <a:t>Power BI Dashboard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8231" y="2926080"/>
            <a:ext cx="6085063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 err="1"/>
              <a:t>Syntecxhub</a:t>
            </a:r>
            <a:r>
              <a:rPr dirty="0"/>
              <a:t> Data Analysis </a:t>
            </a:r>
            <a:r>
              <a:rPr dirty="0" smtClean="0"/>
              <a:t>Internship</a:t>
            </a:r>
            <a:r>
              <a:rPr lang="en-US" dirty="0" smtClean="0"/>
              <a:t> • Week 4</a:t>
            </a:r>
            <a:r>
              <a:rPr dirty="0" smtClean="0"/>
              <a:t> </a:t>
            </a:r>
            <a:r>
              <a:rPr dirty="0" smtClean="0"/>
              <a:t>Project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885383" y="4846320"/>
            <a:ext cx="4390754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Poweide Abigail </a:t>
            </a:r>
            <a:r>
              <a:rPr dirty="0" smtClean="0"/>
              <a:t>Edonkumoh</a:t>
            </a:r>
          </a:p>
          <a:p>
            <a:pPr algn="ctr">
              <a:defRPr sz="1500">
                <a:solidFill>
                  <a:srgbClr val="EBDCE4"/>
                </a:solidFill>
                <a:latin typeface="Aptos"/>
              </a:defRPr>
            </a:pPr>
            <a:r>
              <a:rPr dirty="0" smtClean="0"/>
              <a:t>Data Analyst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 practical Power BI analysis of loan applications, funding, repayments, and borrower characteristics.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011680" cy="347472"/>
          </a:xfrm>
          <a:prstGeom prst="round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9786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A0826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6492240" cy="3200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The project analyzes bank loan applications, funded amounts, and repayments.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The analysis classifies loans into Good Loan, Bad Loan, and Rejected categories.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The dashboard combines portfolio, risk, regional, and customer-level analysis.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The final deliverable is a three-page interactive Power BI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234440"/>
            <a:ext cx="3977639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1344168"/>
            <a:ext cx="3648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Internship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1709928"/>
            <a:ext cx="364845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The Syntecxhub brief requires KPI calculation, loan-quality classification, trend analysis by time/region/customers, identification of factors affecting approval and repayment, and a Power BI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29000"/>
            <a:ext cx="3977639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2" y="3538728"/>
            <a:ext cx="3648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Portfolio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3904487"/>
            <a:ext cx="364845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Demonstrate practical skills in Power Query, data modeling, DAX, visualization, dashboard design, and business-oriented insight generation.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432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 &amp;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The dashboard was designed around measurable business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9385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749808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44167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rPr dirty="0"/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564176"/>
            <a:ext cx="15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0826"/>
                </a:solidFill>
                <a:latin typeface="Aptos"/>
              </a:defRPr>
            </a:pPr>
            <a:r>
              <a:rPr sz="1200" dirty="0"/>
              <a:t>How large is the loan portfolio?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527049"/>
            <a:ext cx="568756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rPr dirty="0"/>
              <a:t>Applications, requested amount, funded amount, and payments received.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86000"/>
            <a:ext cx="193852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286000"/>
            <a:ext cx="73152" cy="749808"/>
          </a:xfrm>
          <a:prstGeom prst="rect">
            <a:avLst/>
          </a:prstGeom>
          <a:solidFill>
            <a:srgbClr val="AD1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295144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rPr dirty="0"/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455162"/>
            <a:ext cx="1709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0826"/>
                </a:solidFill>
                <a:latin typeface="Aptos"/>
              </a:defRPr>
            </a:pPr>
            <a:r>
              <a:rPr dirty="0"/>
              <a:t>What proportion of loans are good vs bad?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350008"/>
            <a:ext cx="8641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rPr dirty="0"/>
              <a:t>Loan quality, credit grade, DTI, interest rate, and rejection levels.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1938528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246120"/>
            <a:ext cx="73152" cy="749808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246119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rPr dirty="0"/>
              <a:t>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49039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410712"/>
            <a:ext cx="1481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0826"/>
                </a:solidFill>
                <a:latin typeface="Aptos"/>
              </a:defRPr>
            </a:pPr>
            <a:r>
              <a:rPr dirty="0"/>
              <a:t>How does activity change over time?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3310127"/>
            <a:ext cx="8641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rPr dirty="0"/>
              <a:t>Monthly applications, funding, and payment recovery trends.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06239"/>
            <a:ext cx="1938528" cy="7863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206240"/>
            <a:ext cx="73152" cy="749808"/>
          </a:xfrm>
          <a:prstGeom prst="rect">
            <a:avLst/>
          </a:prstGeom>
          <a:solidFill>
            <a:srgbClr val="AD1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18795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rPr dirty="0"/>
              <a:t>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09159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315968"/>
            <a:ext cx="1901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0826"/>
                </a:solidFill>
                <a:latin typeface="Aptos"/>
              </a:defRPr>
            </a:pPr>
            <a:r>
              <a:rPr sz="1200" dirty="0"/>
              <a:t>Where are applications and funding concentrated?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270248"/>
            <a:ext cx="8641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rPr dirty="0"/>
              <a:t>Region and state-level application and funding analysis.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66359"/>
            <a:ext cx="1938528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166359"/>
            <a:ext cx="73152" cy="749808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13892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69279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330951"/>
            <a:ext cx="1901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A0826"/>
                </a:solidFill>
                <a:latin typeface="Aptos"/>
              </a:defRPr>
            </a:pPr>
            <a:r>
              <a:rPr dirty="0"/>
              <a:t>What borrower factors are associated with loan outcomes?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42616" y="5230368"/>
            <a:ext cx="8641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rPr dirty="0"/>
              <a:t>Income, DTI, employment length, home ownership, and loan purpose.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The source dataset contains 5,000 loan records across 21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4261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3152" cy="123444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23682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Loan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368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2368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Unique Loan_IDs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234440"/>
            <a:ext cx="264261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55848" y="1234440"/>
            <a:ext cx="73152" cy="123444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371600"/>
            <a:ext cx="23682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737360"/>
            <a:ext cx="2368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3,500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084832"/>
            <a:ext cx="2368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Unique Customer_IDs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234440"/>
            <a:ext cx="264261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5" y="1234440"/>
            <a:ext cx="73152" cy="123444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371600"/>
            <a:ext cx="23682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737360"/>
            <a:ext cx="2368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084832"/>
            <a:ext cx="2368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Loan and borrower attributes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1234440"/>
            <a:ext cx="264261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70263" y="1234440"/>
            <a:ext cx="73152" cy="123444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3" y="1371600"/>
            <a:ext cx="23682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Application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1737360"/>
            <a:ext cx="2368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2021–2023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2084832"/>
            <a:ext cx="2368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Application 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788920"/>
            <a:ext cx="2103120" cy="347472"/>
          </a:xfrm>
          <a:prstGeom prst="round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2843784"/>
            <a:ext cx="19202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A0826"/>
                </a:solidFill>
                <a:latin typeface="Aptos"/>
              </a:defRPr>
            </a:pPr>
            <a:r>
              <a:t>KEY DATA 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246120"/>
            <a:ext cx="557784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Loan activity: application date, issue date, last payment date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Financials: requested amount, funded amount, investor funding, payment received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Borrower profile: annual income, DTI, employment length, home ownership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Risk attributes: grade, interest rate, term, loan status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Segmentation: purpose, region, state, customer 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2971800"/>
            <a:ext cx="4709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93992" y="3081528"/>
            <a:ext cx="43799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Important Data Characteristic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3447288"/>
            <a:ext cx="437997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Customer_ID is not unique because a customer can have multiple loans. Loan_ID is the unique loan-level identifier used for duplicate checks.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Preparation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Cleaning and transformation were completed in Power Query before dashboard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6245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60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533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0826"/>
                </a:solidFill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01368"/>
            <a:ext cx="2423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sz="1200" dirty="0"/>
              <a:t>Reviewed column quality, </a:t>
            </a:r>
            <a:r>
              <a:rPr sz="1200" dirty="0" smtClean="0"/>
              <a:t>distribution,</a:t>
            </a:r>
            <a:r>
              <a:rPr lang="en-US" sz="1200" dirty="0"/>
              <a:t> </a:t>
            </a:r>
            <a:r>
              <a:rPr sz="1200" dirty="0" smtClean="0"/>
              <a:t>and </a:t>
            </a:r>
            <a:r>
              <a:rPr sz="1200" dirty="0"/>
              <a:t>profile across the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23444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136245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600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3533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0826"/>
                </a:solidFill>
              </a:defRPr>
            </a:pPr>
            <a:r>
              <a:t>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1801368"/>
            <a:ext cx="2606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sz="1200" dirty="0"/>
              <a:t>Assigned correct data types to text, </a:t>
            </a:r>
            <a:r>
              <a:rPr sz="1200" dirty="0" smtClean="0"/>
              <a:t>dates,</a:t>
            </a:r>
            <a:r>
              <a:rPr lang="en-US" sz="1200" dirty="0"/>
              <a:t> </a:t>
            </a:r>
            <a:r>
              <a:rPr sz="1200" dirty="0" smtClean="0"/>
              <a:t>decimal</a:t>
            </a:r>
            <a:r>
              <a:rPr sz="1200" dirty="0"/>
              <a:t>, and whole-number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23444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136245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600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3533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0826"/>
                </a:solidFill>
              </a:defRPr>
            </a:pPr>
            <a:r>
              <a:t>Text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1801368"/>
            <a:ext cx="252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sz="1200" dirty="0"/>
              <a:t>Trimmed and cleaned text fields to improve consistency.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5701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600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0826"/>
                </a:solidFill>
              </a:defRPr>
            </a:pPr>
            <a:r>
              <a:t>Date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995928"/>
            <a:ext cx="2706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sz="1200" dirty="0"/>
              <a:t>Created Application Year, </a:t>
            </a:r>
            <a:r>
              <a:rPr sz="1200" dirty="0" smtClean="0"/>
              <a:t>Month</a:t>
            </a:r>
            <a:r>
              <a:rPr sz="1200" dirty="0"/>
              <a:t>, Month Number, and Year-Month fields.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42900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0" y="355701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600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5478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0826"/>
                </a:solidFill>
              </a:defRPr>
            </a:pPr>
            <a:r>
              <a:t>Missing 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3" y="3995928"/>
            <a:ext cx="2706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sz="1200" dirty="0"/>
              <a:t>Retained 197 missing </a:t>
            </a:r>
            <a:r>
              <a:rPr sz="1200" dirty="0" err="1" smtClean="0"/>
              <a:t>Issue</a:t>
            </a:r>
            <a:r>
              <a:rPr lang="en-US" sz="1200" dirty="0" err="1"/>
              <a:t>_</a:t>
            </a:r>
            <a:r>
              <a:rPr sz="1200" dirty="0" err="1" smtClean="0"/>
              <a:t>Date</a:t>
            </a:r>
            <a:r>
              <a:rPr sz="1200" dirty="0" smtClean="0"/>
              <a:t> </a:t>
            </a:r>
            <a:r>
              <a:rPr sz="1200" dirty="0"/>
              <a:t>and </a:t>
            </a:r>
            <a:r>
              <a:rPr sz="1200" dirty="0" err="1"/>
              <a:t>Last_Payment_Date</a:t>
            </a:r>
            <a:r>
              <a:rPr sz="1200" dirty="0"/>
              <a:t> values because they correspond to rejected loans.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42900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355701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A600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5478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0826"/>
                </a:solidFill>
              </a:defRPr>
            </a:pPr>
            <a:r>
              <a:t>Duplicates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3995928"/>
            <a:ext cx="2688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2D2D"/>
                </a:solidFill>
              </a:defRPr>
            </a:pPr>
            <a:r>
              <a:rPr sz="1200" dirty="0"/>
              <a:t>Confirmed 5,000 unique </a:t>
            </a:r>
            <a:r>
              <a:rPr sz="1200" dirty="0" err="1"/>
              <a:t>Loan_IDs</a:t>
            </a:r>
            <a:r>
              <a:rPr sz="1200" dirty="0"/>
              <a:t> and no duplicate complete rows.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Modeling &amp; DAX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 simple star-style structure supports time analysis and reusable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1828800" cy="347472"/>
          </a:xfrm>
          <a:prstGeom prst="round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197864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A0826"/>
                </a:solidFill>
                <a:latin typeface="Aptos"/>
              </a:defRPr>
            </a:pPr>
            <a:r>
              <a:t>MODEL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54480"/>
            <a:ext cx="34747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A0826"/>
                </a:solidFill>
              </a:defRPr>
            </a:pPr>
            <a:r>
              <a:t>Bank_Loan_Dataset</a:t>
            </a:r>
          </a:p>
          <a:p>
            <a:pPr algn="ctr">
              <a:defRPr sz="1100">
                <a:solidFill>
                  <a:srgbClr val="696969"/>
                </a:solidFill>
              </a:defRPr>
            </a:pPr>
            <a:r>
              <a:t>Loan-level fact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D1364"/>
                </a:solidFill>
              </a:defRPr>
            </a:pPr>
            <a:r>
              <a:t>Date_Table</a:t>
            </a:r>
          </a:p>
          <a:p>
            <a:pPr algn="ctr">
              <a:defRPr sz="1000">
                <a:solidFill>
                  <a:srgbClr val="2D2D2D"/>
                </a:solidFill>
              </a:defRPr>
            </a:pPr>
            <a:r>
              <a:t>Application date dimension for Year, Month, Quarter and Year-Month.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718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D1364"/>
                </a:solidFill>
              </a:defRPr>
            </a:pPr>
            <a:r>
              <a:t>DAX_Measures</a:t>
            </a:r>
          </a:p>
          <a:p>
            <a:pPr algn="ctr">
              <a:defRPr sz="1000">
                <a:solidFill>
                  <a:srgbClr val="2D2D2D"/>
                </a:solidFill>
              </a:defRPr>
            </a:pPr>
            <a:r>
              <a:t>Centralized measures for KPIs, funding, repayment and loan quality.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423160" y="2606040"/>
            <a:ext cx="3566160" cy="36576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2606040"/>
            <a:ext cx="3749040" cy="36576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461772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4727448"/>
            <a:ext cx="4974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Core calculated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093208"/>
            <a:ext cx="497433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Loan_Quality classifies Fully Paid + Current as Good Loan, Charged Off as Bad Loan, and Rejected separately.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17720"/>
            <a:ext cx="53035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4727448"/>
            <a:ext cx="4974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Core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5093208"/>
            <a:ext cx="497433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Applications, requested amount, funded amount, payment received, good/bad loan percentages, funding rate and payment recovery 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Executive KPI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Headline measures from the completed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64592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Total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Loan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23444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234440"/>
            <a:ext cx="73152" cy="164592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37160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Requested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73736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$75.47M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9631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Total amount requested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23444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27064" y="1234440"/>
            <a:ext cx="73152" cy="164592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137160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Funded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73736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$66.16M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49631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Total funded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23444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3416" y="1234440"/>
            <a:ext cx="73152" cy="164592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137160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Payments Received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173736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$67.78M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49631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Total recorded payments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8328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3383280"/>
            <a:ext cx="73152" cy="1645920"/>
          </a:xfrm>
          <a:prstGeom prst="rect">
            <a:avLst/>
          </a:prstGeom>
          <a:solidFill>
            <a:srgbClr val="AD1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52044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Average Loan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8620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$15.09K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4515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Average requested amount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0712" y="338328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10712" y="3383280"/>
            <a:ext cx="73152" cy="1645920"/>
          </a:xfrm>
          <a:prstGeom prst="rect">
            <a:avLst/>
          </a:prstGeom>
          <a:solidFill>
            <a:srgbClr val="AD1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93592" y="352044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Average Interest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388620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13.83%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2" y="464515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Average interest 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7064" y="338328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27064" y="3383280"/>
            <a:ext cx="73152" cy="1645920"/>
          </a:xfrm>
          <a:prstGeom prst="rect">
            <a:avLst/>
          </a:prstGeom>
          <a:solidFill>
            <a:srgbClr val="AD1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9944" y="352044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Average DTI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388620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18.75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464515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Average debt-to-income ratio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43416" y="3383280"/>
            <a:ext cx="25786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43416" y="3383280"/>
            <a:ext cx="73152" cy="1645920"/>
          </a:xfrm>
          <a:prstGeom prst="rect">
            <a:avLst/>
          </a:prstGeom>
          <a:solidFill>
            <a:srgbClr val="AD1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26296" y="3520440"/>
            <a:ext cx="2304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6969"/>
                </a:solidFill>
                <a:latin typeface="Aptos"/>
              </a:defRPr>
            </a:pPr>
            <a:r>
              <a:t>Payment Recovery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6" y="3886200"/>
            <a:ext cx="23042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D1364"/>
                </a:solidFill>
                <a:latin typeface="Aptos Display"/>
              </a:defRPr>
            </a:pPr>
            <a:r>
              <a:t>102.45%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6296" y="4645152"/>
            <a:ext cx="2304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ptos"/>
              </a:defRPr>
            </a:pPr>
            <a:r>
              <a:t>Payments received ÷ funded amount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623560"/>
            <a:ext cx="107899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392" y="5614416"/>
            <a:ext cx="10460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rPr dirty="0"/>
              <a:t>Interpretation note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5843016"/>
            <a:ext cx="1046073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rPr dirty="0"/>
              <a:t>The 102.45% payment recovery figure reflects the dataset's recorded payments relative to funded amounts; it should not be interpreted alone as a profitability measure.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Three-Page Dashboard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Each page answers a different part of the bank loan business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A600"/>
                </a:solidFill>
              </a:defRPr>
            </a:pPr>
            <a:r>
              <a:t>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A0826"/>
                </a:solidFill>
              </a:defRPr>
            </a:pPr>
            <a:r>
              <a:t>Loan Portfolio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24328"/>
            <a:ext cx="290779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D2D2D"/>
                </a:solidFill>
              </a:defRPr>
            </a:pPr>
            <a:r>
              <a:rPr dirty="0"/>
              <a:t>Overall portfolio size, monthly activity, status distribution, loan purpose and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33756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6459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D1364"/>
                </a:solidFill>
              </a:defRPr>
            </a:pPr>
            <a:r>
              <a:t>PAGE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A0826"/>
                </a:solidFill>
              </a:defRPr>
            </a:pPr>
            <a:r>
              <a:t>Loan Quality &amp; Risk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624328"/>
            <a:ext cx="289864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D2D2D"/>
                </a:solidFill>
              </a:defRPr>
            </a:pPr>
            <a:r>
              <a:rPr dirty="0"/>
              <a:t>Good/bad loan mix, funding, recovery, credit grade, interest rate, DTI and purpose-level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53896"/>
            <a:ext cx="333756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6459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60"/>
                </a:solidFill>
              </a:defRPr>
            </a:pPr>
            <a:r>
              <a:t>PAGE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A0826"/>
                </a:solidFill>
              </a:defRPr>
            </a:pPr>
            <a:r>
              <a:t>Customer &amp; Regional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83180"/>
            <a:ext cx="29626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D2D2D"/>
                </a:solidFill>
              </a:defRPr>
            </a:pPr>
            <a:r>
              <a:rPr dirty="0"/>
              <a:t>Borrower profile, regional funding/recovery, state applications, employment and home ownership patterns.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Page 1 — Loan Portfolio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The portfolio-level view provides the executive snapshot.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87552"/>
            <a:ext cx="112014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308" y="1067208"/>
            <a:ext cx="9009460" cy="50984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Page 1 — Portfolio-Level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What the overview page reveals from the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29400" cy="4434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 dataset contains 5,000 loan applications across 3,500 unique customers.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Total requested loan amount is approximately $75.47M, while $66.16M was funded.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Monthly application activity varies over the 2021–2023 application period, supporting time-based monitoring.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Fully Paid loans represent 75.6% of all applications; Current loans account for 11.2%.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Charged Off loans account for 9.2% and Rejected applications for 3.9%.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Debt Consolidation is the largest loan purpose by application volume in the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36576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1" y="1527048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Portfolio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1892808"/>
            <a:ext cx="3328416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$66.16M funded across 5,000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154680"/>
            <a:ext cx="36576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1" y="3264408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Application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3630168"/>
            <a:ext cx="3328416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The majority of applications are Fully Paid or Current, while Charged Off and Rejected records form smaller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892040"/>
            <a:ext cx="3657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5001768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5367527"/>
            <a:ext cx="33284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Supports monitoring of portfolio volume, funding activity and loan demand.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Page 2 — Loan Quality &amp;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The risk page focuses on loan outcomes and borrower risk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87552"/>
            <a:ext cx="112014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11" y="1114515"/>
            <a:ext cx="8835215" cy="49947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Page 2 — Loan Quality &amp; Risk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Loan-quality analysis separates rejected applications from the good/bad loan classification.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583680" cy="4526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Among non-rejected loans, 90.38% are classified as Good Loans and 9.62% as Bad Loans.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Good Loans account for approximately $59.57M in funded amount, compared with about $6.60M for Bad Loans.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There are 197 rejected applications in the dataset.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Credit Grade B has the highest application volume in the dashboard.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Average interest rate declines from higher-risk grades toward lower-risk grades in the displayed grade analysis.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 dashboard allows users to compare loan quality across loan purposes using 100% stacked bars.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749039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1" y="1527048"/>
            <a:ext cx="3419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Good Loan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1892808"/>
            <a:ext cx="34198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90.38% of non-rejected loans are classified as Good Loans.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063240"/>
            <a:ext cx="3749039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D1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9831" y="3172968"/>
            <a:ext cx="3419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Bad Loan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3538728"/>
            <a:ext cx="34198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$6.60M was funded to loans classified as Bad Loans.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709160"/>
            <a:ext cx="3749039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4818888"/>
            <a:ext cx="3419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0826"/>
                </a:solidFill>
                <a:latin typeface="Aptos"/>
              </a:defRPr>
            </a:pPr>
            <a:r>
              <a:t>Risk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5184648"/>
            <a:ext cx="341985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Aptos"/>
              </a:defRPr>
            </a:pPr>
            <a:r>
              <a:t>Grade, interest rate and DTI provide complementary risk signals.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Page 3 — Customer &amp; Regional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The customer and regional page connects borrower characteristics with loan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87552"/>
            <a:ext cx="112014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486" y="1177809"/>
            <a:ext cx="8840988" cy="4939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Cross-Dashboard Insights &amp; Business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Evidence from the three pages can be translated into monitoring priorities.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554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2240280" cy="347472"/>
          </a:xfrm>
          <a:prstGeom prst="round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152144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A0826"/>
                </a:solidFill>
                <a:latin typeface="Aptos"/>
              </a:defRPr>
            </a:pPr>
            <a:r>
              <a:t>EVIDENCE-BASED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440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D1364"/>
                </a:solidFill>
              </a:defRPr>
            </a:pPr>
            <a:r>
              <a:t>Portfolio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673352"/>
            <a:ext cx="36210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D2D"/>
                </a:solidFill>
              </a:defRPr>
            </a:pPr>
            <a:r>
              <a:rPr dirty="0"/>
              <a:t>Track monthly applications, funded amounts and payment recovery to identify changes in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68880"/>
            <a:ext cx="5440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D1364"/>
                </a:solidFill>
              </a:defRPr>
            </a:pPr>
            <a:r>
              <a:t>Loan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42032"/>
            <a:ext cx="35661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D2D"/>
                </a:solidFill>
              </a:defRPr>
            </a:pPr>
            <a:r>
              <a:rPr dirty="0"/>
              <a:t>Monitor the Charged Off segment separately from Rejected applications to distinguish repayment risk from approval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5440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D1364"/>
                </a:solidFill>
              </a:defRPr>
            </a:pPr>
            <a:r>
              <a:t>Credit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10712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D2D"/>
                </a:solidFill>
              </a:defRPr>
            </a:pPr>
            <a:r>
              <a:rPr dirty="0"/>
              <a:t>Use grade, interest rate and DTI together rather than relying on a single risk indicator.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06240"/>
            <a:ext cx="5440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8853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D1364"/>
                </a:solidFill>
              </a:defRPr>
            </a:pPr>
            <a:r>
              <a:t>Regional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79392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D2D"/>
                </a:solidFill>
              </a:defRPr>
            </a:pPr>
            <a:r>
              <a:rPr dirty="0"/>
              <a:t>Compare funding and payment recovery by region and drill into state-level application volume.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74920"/>
            <a:ext cx="5440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F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57216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D1364"/>
                </a:solidFill>
              </a:defRPr>
            </a:pPr>
            <a:r>
              <a:t>Customer segmentation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148072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D2D"/>
                </a:solidFill>
              </a:defRPr>
            </a:pPr>
            <a:r>
              <a:rPr dirty="0"/>
              <a:t>Use income, employment length, home ownership and loan purpose to understand borrower segments.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097280"/>
            <a:ext cx="2423160" cy="347472"/>
          </a:xfrm>
          <a:prstGeom prst="round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1152144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A0826"/>
                </a:solidFill>
                <a:latin typeface="Aptos"/>
              </a:defRPr>
            </a:pPr>
            <a:r>
              <a:t>RECOMMENDED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600200"/>
            <a:ext cx="4800600" cy="4389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Review high-risk loan segments using grade, DTI and loan quality.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Investigate regions or states with materially different funding or repayment patterns.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Monitor loan purposes with high application volumes alongside their quality mix.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Use monthly trend monitoring to identify changes early.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Refresh the dashboard as new loan records become available.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65392"/>
            <a:ext cx="11183112" cy="18288"/>
          </a:xfrm>
          <a:prstGeom prst="rect">
            <a:avLst/>
          </a:prstGeom>
          <a:solidFill>
            <a:srgbClr val="E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659282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  <a:latin typeface="Aptos"/>
              </a:defRPr>
            </a:pPr>
            <a:r>
              <a:t>Syntecxhub Data Analysis Internship • Bank Loan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A600"/>
                </a:solidFill>
                <a:latin typeface="Aptos Display"/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1681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Aptos"/>
              </a:defRPr>
            </a:pPr>
            <a:r>
              <a:rPr dirty="0"/>
              <a:t>The Bank Loan Analysis project transforms raw loan records into an interactive three-page Power BI dashboard that supports portfolio, risk, </a:t>
            </a:r>
            <a:r>
              <a:rPr dirty="0" smtClean="0"/>
              <a:t>regional</a:t>
            </a:r>
            <a:r>
              <a:rPr lang="en-US" dirty="0" smtClean="0"/>
              <a:t>,</a:t>
            </a:r>
            <a:r>
              <a:rPr dirty="0" smtClean="0"/>
              <a:t> </a:t>
            </a:r>
            <a:r>
              <a:rPr dirty="0"/>
              <a:t>and customer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335584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24612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335584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4612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335584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 Modeling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24612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34272" y="335584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422452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11480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422452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 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2423160" cy="502920"/>
          </a:xfrm>
          <a:prstGeom prst="roundRect">
            <a:avLst/>
          </a:prstGeom>
          <a:solidFill>
            <a:srgbClr val="5E1C41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4224528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8660" y="5440680"/>
            <a:ext cx="362419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A600"/>
                </a:solidFill>
                <a:latin typeface="Aptos Display"/>
              </a:defRPr>
            </a:pPr>
            <a:r>
              <a:rPr dirty="0"/>
              <a:t>Thank you</a:t>
            </a:r>
          </a:p>
          <a:p>
            <a:pPr algn="ctr"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Poweide Abigail Edonkumoh • </a:t>
            </a:r>
            <a:r>
              <a:rPr dirty="0" smtClean="0"/>
              <a:t>Data </a:t>
            </a:r>
            <a:r>
              <a:rPr dirty="0"/>
              <a:t>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1472</Words>
  <Application>Microsoft Office PowerPoint</Application>
  <PresentationFormat>Widescreen</PresentationFormat>
  <Paragraphs>218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8</cp:revision>
  <dcterms:created xsi:type="dcterms:W3CDTF">2013-01-27T09:14:16Z</dcterms:created>
  <dcterms:modified xsi:type="dcterms:W3CDTF">2026-09-29T08:22:28Z</dcterms:modified>
  <cp:category/>
</cp:coreProperties>
</file>