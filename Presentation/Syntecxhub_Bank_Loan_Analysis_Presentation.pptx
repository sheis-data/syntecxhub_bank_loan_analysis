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08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78DDB-9A56-42E7-8E22-1592DBB605DA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F9E2B4-7A39-4DE0-B690-254C93DBE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129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F9E2B4-7A39-4DE0-B690-254C93DBE3F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49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921240" y="0"/>
            <a:ext cx="2267712" cy="201168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52760" y="6263640"/>
            <a:ext cx="1536192" cy="59436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A600"/>
                </a:solidFill>
                <a:latin typeface="Aptos Display"/>
              </a:defRPr>
            </a:pPr>
            <a:r>
              <a:t>BANK LOAN ANALYSIS</a:t>
            </a:r>
          </a:p>
          <a:p>
            <a:pPr algn="ctr">
              <a:defRPr sz="2500">
                <a:solidFill>
                  <a:srgbClr val="FFFFFF"/>
                </a:solidFill>
                <a:latin typeface="Aptos"/>
              </a:defRPr>
            </a:pPr>
            <a:r>
              <a:t>Power BI Dashboard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8231" y="2926080"/>
            <a:ext cx="6085063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FFFFF"/>
                </a:solidFill>
                <a:latin typeface="Aptos"/>
              </a:defRPr>
            </a:pPr>
            <a:r>
              <a:rPr dirty="0" err="1"/>
              <a:t>Syntecxhub</a:t>
            </a:r>
            <a:r>
              <a:rPr dirty="0"/>
              <a:t> Data Analysis </a:t>
            </a:r>
            <a:r>
              <a:rPr dirty="0" smtClean="0"/>
              <a:t>Internship</a:t>
            </a:r>
            <a:r>
              <a:rPr lang="en-US" dirty="0" smtClean="0"/>
              <a:t> • Week 4</a:t>
            </a:r>
            <a:r>
              <a:rPr dirty="0" smtClean="0"/>
              <a:t> Project 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3885383" y="4846320"/>
            <a:ext cx="4390754" cy="6924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ptos Display"/>
              </a:defRPr>
            </a:pPr>
            <a:r>
              <a:rPr dirty="0"/>
              <a:t>Poweide Abigail </a:t>
            </a:r>
            <a:r>
              <a:rPr dirty="0" smtClean="0"/>
              <a:t>Edonkumoh</a:t>
            </a:r>
          </a:p>
          <a:p>
            <a:pPr algn="ctr">
              <a:defRPr sz="1500">
                <a:solidFill>
                  <a:srgbClr val="EBDCE4"/>
                </a:solidFill>
                <a:latin typeface="Aptos"/>
              </a:defRPr>
            </a:pPr>
            <a:r>
              <a:rPr dirty="0" smtClean="0"/>
              <a:t>Data Analyst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A practical Power BI analysis of loan applications, funding, repayments, and borrower characteristics.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011680" cy="347472"/>
          </a:xfrm>
          <a:prstGeom prst="round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97864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A0826"/>
                </a:solidFill>
                <a:latin typeface="Aptos"/>
              </a:defRPr>
            </a:pPr>
            <a:r>
              <a:t>PROJECT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6492240" cy="32004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The project analyzes bank loan applications, funded amounts, and repayments.</a:t>
            </a:r>
          </a:p>
          <a:p>
            <a:pPr>
              <a:spcAft>
                <a:spcPts val="7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The analysis classifies loans into Good Loan, Bad Loan, and Rejected categories.</a:t>
            </a:r>
          </a:p>
          <a:p>
            <a:pPr>
              <a:spcAft>
                <a:spcPts val="7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The dashboard combines portfolio, risk, regional, and customer-level analysis.</a:t>
            </a:r>
          </a:p>
          <a:p>
            <a:pPr>
              <a:spcAft>
                <a:spcPts val="700"/>
              </a:spcAft>
              <a:defRPr sz="1700">
                <a:solidFill>
                  <a:srgbClr val="2D2D2D"/>
                </a:solidFill>
                <a:latin typeface="Aptos"/>
              </a:defRPr>
            </a:pPr>
            <a:r>
              <a:t>• The final deliverable is a three-page interactive Power BI dashboard.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234440"/>
            <a:ext cx="3977639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08392" y="1344168"/>
            <a:ext cx="36484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Internship 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1709928"/>
            <a:ext cx="3648456" cy="1399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The Syntecxhub brief requires KPI calculation, loan-quality classification, trend analysis by time/region/customers, identification of factors affecting approval and repayment, and a Power BI dashboard.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3429000"/>
            <a:ext cx="3977639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08392" y="3538728"/>
            <a:ext cx="36484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Portfolio 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3904487"/>
            <a:ext cx="3648456" cy="1399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Demonstrate practical skills in Power Query, data modeling, DAX, visualization, dashboard design, and business-oriented insight generation.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7432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Objectives &amp; Business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The dashboard was designed around measurable business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193852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73152" cy="749808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344167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rPr dirty="0"/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554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564176"/>
            <a:ext cx="1554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A0826"/>
                </a:solidFill>
                <a:latin typeface="Aptos"/>
              </a:defRPr>
            </a:pPr>
            <a:r>
              <a:rPr sz="1200" dirty="0"/>
              <a:t>How large is the loan portfolio?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8" y="1527049"/>
            <a:ext cx="568756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D2D2D"/>
                </a:solidFill>
                <a:latin typeface="Aptos"/>
              </a:defRPr>
            </a:pPr>
            <a:r>
              <a:rPr dirty="0"/>
              <a:t>Applications, requested amount, funded amount, and payments received.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286000"/>
            <a:ext cx="1938528" cy="7223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2286000"/>
            <a:ext cx="73152" cy="749808"/>
          </a:xfrm>
          <a:prstGeom prst="rect">
            <a:avLst/>
          </a:prstGeom>
          <a:solidFill>
            <a:srgbClr val="AD1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295144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rPr dirty="0"/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88920"/>
            <a:ext cx="1554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2455162"/>
            <a:ext cx="17099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A0826"/>
                </a:solidFill>
                <a:latin typeface="Aptos"/>
              </a:defRPr>
            </a:pPr>
            <a:r>
              <a:rPr dirty="0"/>
              <a:t>What proportion of loans are good vs bad?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350008"/>
            <a:ext cx="8641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2D2D"/>
                </a:solidFill>
                <a:latin typeface="Aptos"/>
              </a:defRPr>
            </a:pPr>
            <a:r>
              <a:rPr dirty="0"/>
              <a:t>Loan quality, credit grade, DTI, interest rate, and rejection levels.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46120"/>
            <a:ext cx="1938528" cy="7223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3246120"/>
            <a:ext cx="73152" cy="749808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246119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rPr dirty="0"/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49039"/>
            <a:ext cx="1554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410712"/>
            <a:ext cx="1481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A0826"/>
                </a:solidFill>
                <a:latin typeface="Aptos"/>
              </a:defRPr>
            </a:pPr>
            <a:r>
              <a:rPr dirty="0"/>
              <a:t>How does activity change over time?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24328" y="3310127"/>
            <a:ext cx="8641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2D2D"/>
                </a:solidFill>
                <a:latin typeface="Aptos"/>
              </a:defRPr>
            </a:pPr>
            <a:r>
              <a:rPr dirty="0"/>
              <a:t>Monthly applications, funding, and payment recovery trends.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206239"/>
            <a:ext cx="1938528" cy="78638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4206240"/>
            <a:ext cx="73152" cy="749808"/>
          </a:xfrm>
          <a:prstGeom prst="rect">
            <a:avLst/>
          </a:prstGeom>
          <a:solidFill>
            <a:srgbClr val="AD1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187952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rPr dirty="0"/>
              <a:t>Geography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09159"/>
            <a:ext cx="1554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" y="4315968"/>
            <a:ext cx="1901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A0826"/>
                </a:solidFill>
                <a:latin typeface="Aptos"/>
              </a:defRPr>
            </a:pPr>
            <a:r>
              <a:rPr sz="1200" dirty="0"/>
              <a:t>Where are applications and funding concentrated?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4270248"/>
            <a:ext cx="8641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2D2D"/>
                </a:solidFill>
                <a:latin typeface="Aptos"/>
              </a:defRPr>
            </a:pPr>
            <a:r>
              <a:rPr dirty="0"/>
              <a:t>Region and state-level application and funding analysis.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166359"/>
            <a:ext cx="1938528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85800" y="5166359"/>
            <a:ext cx="73152" cy="749808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7824" y="5138928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669279"/>
            <a:ext cx="1554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" y="5330951"/>
            <a:ext cx="1901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A0826"/>
                </a:solidFill>
                <a:latin typeface="Aptos"/>
              </a:defRPr>
            </a:pPr>
            <a:r>
              <a:rPr dirty="0"/>
              <a:t>What borrower factors are associated with loan outcomes?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5230368"/>
            <a:ext cx="8641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2D2D"/>
                </a:solidFill>
                <a:latin typeface="Aptos"/>
              </a:defRPr>
            </a:pPr>
            <a:r>
              <a:rPr dirty="0"/>
              <a:t>Income, DTI, employment length, home ownership, and loan purpose.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The source dataset contains 5,000 loan records across 21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4261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123444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23682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Loan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368296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2368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Unique Loan_IDs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234440"/>
            <a:ext cx="264261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55848" y="1234440"/>
            <a:ext cx="73152" cy="123444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38728" y="1371600"/>
            <a:ext cx="23682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1737360"/>
            <a:ext cx="2368296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3,500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084832"/>
            <a:ext cx="2368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Unique Customer_IDs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5" y="1234440"/>
            <a:ext cx="264261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055" y="1234440"/>
            <a:ext cx="73152" cy="123444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5936" y="1371600"/>
            <a:ext cx="23682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Fields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737360"/>
            <a:ext cx="2368296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084832"/>
            <a:ext cx="2368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Loan and borrower attributes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234440"/>
            <a:ext cx="264261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70263" y="1234440"/>
            <a:ext cx="73152" cy="123444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53143" y="1371600"/>
            <a:ext cx="236829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Application Period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1737360"/>
            <a:ext cx="2368296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2021–2023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3" y="2084832"/>
            <a:ext cx="2368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Application dates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2788920"/>
            <a:ext cx="2103120" cy="347472"/>
          </a:xfrm>
          <a:prstGeom prst="round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2843784"/>
            <a:ext cx="19202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A0826"/>
                </a:solidFill>
                <a:latin typeface="Aptos"/>
              </a:defRPr>
            </a:pPr>
            <a:r>
              <a:t>KEY DATA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246120"/>
            <a:ext cx="5577840" cy="2560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Loan activity: application date, issue date, last payment date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Financials: requested amount, funded amount, investor funding, payment received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Borrower profile: annual income, DTI, employment length, home ownership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Risk attributes: grade, interest rate, term, loan status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Segmentation: purpose, region, state, customer ID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2971800"/>
            <a:ext cx="4709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93992" y="3081528"/>
            <a:ext cx="43799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Important Data Characteristic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3447288"/>
            <a:ext cx="4379976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Customer_ID is not unique because a customer can have multiple loans. Loan_ID is the unique loan-level identifier used for duplicate checks.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Data Preparation &amp;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Cleaning and transformation were completed in Power Query before dashboard development.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971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36245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A600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5331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A0826"/>
                </a:solidFill>
              </a:defRPr>
            </a:pPr>
            <a:r>
              <a:t>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801368"/>
            <a:ext cx="24231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2D2D"/>
                </a:solidFill>
              </a:defRPr>
            </a:pPr>
            <a:r>
              <a:rPr sz="1200" dirty="0"/>
              <a:t>Reviewed column quality, </a:t>
            </a:r>
            <a:r>
              <a:rPr sz="1200" dirty="0" smtClean="0"/>
              <a:t>distribution,</a:t>
            </a:r>
            <a:r>
              <a:rPr lang="en-US" sz="1200" dirty="0"/>
              <a:t> </a:t>
            </a:r>
            <a:r>
              <a:rPr sz="1200" dirty="0" smtClean="0"/>
              <a:t>and </a:t>
            </a:r>
            <a:r>
              <a:rPr sz="1200" dirty="0"/>
              <a:t>profile across the dataset.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234440"/>
            <a:ext cx="2971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136245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A600"/>
                </a:solidFill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35331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A0826"/>
                </a:solidFill>
              </a:defRPr>
            </a:pPr>
            <a:r>
              <a:t>Types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1801368"/>
            <a:ext cx="2606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2D2D"/>
                </a:solidFill>
              </a:defRPr>
            </a:pPr>
            <a:r>
              <a:rPr sz="1200" dirty="0"/>
              <a:t>Assigned correct data types to text, </a:t>
            </a:r>
            <a:r>
              <a:rPr sz="1200" dirty="0" smtClean="0"/>
              <a:t>dates,</a:t>
            </a:r>
            <a:r>
              <a:rPr lang="en-US" sz="1200" dirty="0"/>
              <a:t> </a:t>
            </a:r>
            <a:r>
              <a:rPr sz="1200" dirty="0" smtClean="0"/>
              <a:t>decimal</a:t>
            </a:r>
            <a:r>
              <a:rPr sz="1200" dirty="0"/>
              <a:t>, and whole-number fields.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1234440"/>
            <a:ext cx="2971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35240" y="136245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A600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35331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A0826"/>
                </a:solidFill>
              </a:defRPr>
            </a:pPr>
            <a:r>
              <a:t>Text Cleaning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1801368"/>
            <a:ext cx="25237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2D2D"/>
                </a:solidFill>
              </a:defRPr>
            </a:pPr>
            <a:r>
              <a:rPr sz="1200" dirty="0"/>
              <a:t>Trimmed and cleaned text fields to improve consistency.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429000"/>
            <a:ext cx="2971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55701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A600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54787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A0826"/>
                </a:solidFill>
              </a:defRPr>
            </a:pPr>
            <a:r>
              <a:t>Date Handling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3995928"/>
            <a:ext cx="27066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2D2D"/>
                </a:solidFill>
              </a:defRPr>
            </a:pPr>
            <a:r>
              <a:rPr sz="1200" dirty="0"/>
              <a:t>Created Application Year, </a:t>
            </a:r>
            <a:r>
              <a:rPr sz="1200" dirty="0" smtClean="0"/>
              <a:t>Month</a:t>
            </a:r>
            <a:r>
              <a:rPr sz="1200" dirty="0"/>
              <a:t>, Month Number, and Year-Month fields.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9080" y="3429000"/>
            <a:ext cx="2971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06240" y="355701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A600"/>
                </a:solidFill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54787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A0826"/>
                </a:solidFill>
              </a:defRPr>
            </a:pPr>
            <a:r>
              <a:t>Missing 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3" y="3995928"/>
            <a:ext cx="27066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2D2D"/>
                </a:solidFill>
              </a:defRPr>
            </a:pPr>
            <a:r>
              <a:rPr sz="1200" dirty="0"/>
              <a:t>Retained 197 missing </a:t>
            </a:r>
            <a:r>
              <a:rPr sz="1200" dirty="0" err="1" smtClean="0"/>
              <a:t>Issue</a:t>
            </a:r>
            <a:r>
              <a:rPr lang="en-US" sz="1200" dirty="0" err="1"/>
              <a:t>_</a:t>
            </a:r>
            <a:r>
              <a:rPr sz="1200" dirty="0" err="1" smtClean="0"/>
              <a:t>Date</a:t>
            </a:r>
            <a:r>
              <a:rPr sz="1200" dirty="0" smtClean="0"/>
              <a:t> </a:t>
            </a:r>
            <a:r>
              <a:rPr sz="1200" dirty="0"/>
              <a:t>and </a:t>
            </a:r>
            <a:r>
              <a:rPr sz="1200" dirty="0" err="1"/>
              <a:t>Last_Payment_Date</a:t>
            </a:r>
            <a:r>
              <a:rPr sz="1200" dirty="0"/>
              <a:t> values because they correspond to rejected loans.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3429000"/>
            <a:ext cx="2971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35240" y="355701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A600"/>
                </a:solidFill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547872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A0826"/>
                </a:solidFill>
              </a:defRPr>
            </a:pPr>
            <a:r>
              <a:t>Duplicates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1" y="3995928"/>
            <a:ext cx="26883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D2D2D"/>
                </a:solidFill>
              </a:defRPr>
            </a:pPr>
            <a:r>
              <a:rPr sz="1200" dirty="0"/>
              <a:t>Confirmed 5,000 unique </a:t>
            </a:r>
            <a:r>
              <a:rPr sz="1200" dirty="0" err="1"/>
              <a:t>Loan_IDs</a:t>
            </a:r>
            <a:r>
              <a:rPr sz="1200" dirty="0"/>
              <a:t> and no duplicate complete rows.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Data Modeling &amp; DAX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A simple star-style structure supports time analysis and reusable measures.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1828800" cy="347472"/>
          </a:xfrm>
          <a:prstGeom prst="round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1197864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A0826"/>
                </a:solidFill>
                <a:latin typeface="Aptos"/>
              </a:defRPr>
            </a:pPr>
            <a:r>
              <a:t>MODEL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554480"/>
            <a:ext cx="347472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3A0826"/>
                </a:solidFill>
              </a:defRPr>
            </a:pPr>
            <a:r>
              <a:t>Bank_Loan_Dataset</a:t>
            </a:r>
          </a:p>
          <a:p>
            <a:pPr algn="ctr">
              <a:defRPr sz="1100">
                <a:solidFill>
                  <a:srgbClr val="696969"/>
                </a:solidFill>
              </a:defRPr>
            </a:pPr>
            <a:r>
              <a:t>Loan-level fact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3383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AD1364"/>
                </a:solidFill>
              </a:defRPr>
            </a:pPr>
            <a:r>
              <a:t>Date_Table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Application date dimension for Year, Month, Quarter and Year-Month.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971800"/>
            <a:ext cx="3383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AD1364"/>
                </a:solidFill>
              </a:defRPr>
            </a:pPr>
            <a:r>
              <a:t>DAX_Measures</a:t>
            </a:r>
          </a:p>
          <a:p>
            <a:pPr algn="ctr">
              <a:defRPr sz="1000">
                <a:solidFill>
                  <a:srgbClr val="2D2D2D"/>
                </a:solidFill>
              </a:defRPr>
            </a:pPr>
            <a:r>
              <a:t>Centralized measures for KPIs, funding, repayment and loan quality.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423160" y="2606040"/>
            <a:ext cx="3566160" cy="365760"/>
          </a:xfrm>
          <a:prstGeom prst="line">
            <a:avLst/>
          </a:prstGeom>
          <a:ln w="19050">
            <a:solidFill>
              <a:srgbClr val="6969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89320" y="2606040"/>
            <a:ext cx="3749040" cy="365760"/>
          </a:xfrm>
          <a:prstGeom prst="line">
            <a:avLst/>
          </a:prstGeom>
          <a:ln w="19050">
            <a:solidFill>
              <a:srgbClr val="6969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4617720"/>
            <a:ext cx="530352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" y="4727448"/>
            <a:ext cx="49743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Core calculated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093208"/>
            <a:ext cx="497433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Loan_Quality classifies Fully Paid + Current as Good Loan, Charged Off as Bad Loan, and Rejected separately.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617720"/>
            <a:ext cx="530352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4727448"/>
            <a:ext cx="49743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Core measures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5093208"/>
            <a:ext cx="497433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Applications, requested amount, funded amount, payment received, good/bad loan percentages, funding rate and payment recovery rate.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Executive KPI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73152" cy="164592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Total 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37360"/>
            <a:ext cx="23042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Loan applications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23444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73152" cy="164592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93592" y="137160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Requested Amount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1737360"/>
            <a:ext cx="23042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$75.47M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49631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Total amount requested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123444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27064" y="1234440"/>
            <a:ext cx="73152" cy="164592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37160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Funded Amount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737360"/>
            <a:ext cx="125386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rPr dirty="0"/>
              <a:t>$</a:t>
            </a:r>
            <a:r>
              <a:rPr dirty="0" smtClean="0"/>
              <a:t>66.</a:t>
            </a:r>
            <a:r>
              <a:rPr lang="en-US" dirty="0" smtClean="0"/>
              <a:t>2</a:t>
            </a:r>
            <a:r>
              <a:rPr dirty="0" smtClean="0"/>
              <a:t>M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6409944" y="249631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Total funded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3416" y="123444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43416" y="1234440"/>
            <a:ext cx="73152" cy="164592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26296" y="137160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Payments Received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1737360"/>
            <a:ext cx="125386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rPr dirty="0"/>
              <a:t>$</a:t>
            </a:r>
            <a:r>
              <a:rPr dirty="0" smtClean="0"/>
              <a:t>67.8M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9226296" y="249631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Total recorded payments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38328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94360" y="3383280"/>
            <a:ext cx="73152" cy="1645920"/>
          </a:xfrm>
          <a:prstGeom prst="rect">
            <a:avLst/>
          </a:prstGeom>
          <a:solidFill>
            <a:srgbClr val="AD1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52044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Average Loan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886200"/>
            <a:ext cx="1342034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rPr dirty="0"/>
              <a:t>$</a:t>
            </a:r>
            <a:r>
              <a:rPr dirty="0" smtClean="0"/>
              <a:t>15.09</a:t>
            </a:r>
            <a:r>
              <a:rPr lang="en-US" dirty="0" smtClean="0"/>
              <a:t>4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Average requested amount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10712" y="338328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410712" y="3383280"/>
            <a:ext cx="73152" cy="1645920"/>
          </a:xfrm>
          <a:prstGeom prst="rect">
            <a:avLst/>
          </a:prstGeom>
          <a:solidFill>
            <a:srgbClr val="AD1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93592" y="352044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Average Interest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93592" y="3886200"/>
            <a:ext cx="23042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13.83%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93592" y="464515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Average interest rate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7064" y="338328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27064" y="3383280"/>
            <a:ext cx="73152" cy="1645920"/>
          </a:xfrm>
          <a:prstGeom prst="rect">
            <a:avLst/>
          </a:prstGeom>
          <a:solidFill>
            <a:srgbClr val="AD1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9944" y="352044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Average DTI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3886200"/>
            <a:ext cx="808235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rPr dirty="0" smtClean="0"/>
              <a:t>18.</a:t>
            </a:r>
            <a:r>
              <a:rPr lang="en-US" dirty="0" smtClean="0"/>
              <a:t>8</a:t>
            </a:r>
            <a:endParaRPr dirty="0"/>
          </a:p>
        </p:txBody>
      </p:sp>
      <p:sp>
        <p:nvSpPr>
          <p:cNvPr id="41" name="TextBox 40"/>
          <p:cNvSpPr txBox="1"/>
          <p:nvPr/>
        </p:nvSpPr>
        <p:spPr>
          <a:xfrm>
            <a:off x="6409944" y="464515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Average debt-to-income ratio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43416" y="3383280"/>
            <a:ext cx="2578608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043416" y="3383280"/>
            <a:ext cx="73152" cy="1645920"/>
          </a:xfrm>
          <a:prstGeom prst="rect">
            <a:avLst/>
          </a:prstGeom>
          <a:solidFill>
            <a:srgbClr val="AD13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226296" y="3520440"/>
            <a:ext cx="2304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96969"/>
                </a:solidFill>
                <a:latin typeface="Aptos"/>
              </a:defRPr>
            </a:pPr>
            <a:r>
              <a:t>Payment Recovery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26296" y="3886200"/>
            <a:ext cx="2304288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AD1364"/>
                </a:solidFill>
                <a:latin typeface="Aptos Display"/>
              </a:defRPr>
            </a:pPr>
            <a:r>
              <a:t>102.45%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26296" y="4645152"/>
            <a:ext cx="230428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ptos"/>
              </a:defRPr>
            </a:pPr>
            <a:r>
              <a:t>Payments received ÷ funded amount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623560"/>
            <a:ext cx="1078992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0392" y="5614416"/>
            <a:ext cx="104607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rPr dirty="0"/>
              <a:t>Interpretation note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" y="5843016"/>
            <a:ext cx="1046073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rPr dirty="0"/>
              <a:t>The 102.45% payment recovery figure reflects the dataset's recorded payments relative to funded amounts; it should not be interpreted alone as a profitability measure.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Three-Page Dashboard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Each page answers a different part of the bank loan business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337560" cy="4160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64592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A600"/>
                </a:solidFill>
              </a:defRPr>
            </a:pPr>
            <a:r>
              <a:t>PAGE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A0826"/>
                </a:solidFill>
              </a:defRPr>
            </a:pPr>
            <a:r>
              <a:t>Loan Portfolio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24328"/>
            <a:ext cx="2907792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2D2D2D"/>
                </a:solidFill>
              </a:defRPr>
            </a:pPr>
            <a:r>
              <a:rPr dirty="0"/>
              <a:t>Overall portfolio size, monthly activity, status distribution, loan purpose and region.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17320"/>
            <a:ext cx="3337560" cy="4160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164592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D1364"/>
                </a:solidFill>
              </a:defRPr>
            </a:pPr>
            <a:r>
              <a:t>PAGE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A0826"/>
                </a:solidFill>
              </a:defRPr>
            </a:pPr>
            <a:r>
              <a:t>Loan Quality &amp; Risk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624328"/>
            <a:ext cx="2898648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2D2D2D"/>
                </a:solidFill>
              </a:defRPr>
            </a:pPr>
            <a:r>
              <a:rPr dirty="0"/>
              <a:t>Good/bad loan mix, funding, recovery, credit grade, interest rate, DTI and purpose-level quality.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453896"/>
            <a:ext cx="3337560" cy="4160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9912" y="164592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8060"/>
                </a:solidFill>
              </a:defRPr>
            </a:pPr>
            <a:r>
              <a:t>PAGE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240280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A0826"/>
                </a:solidFill>
              </a:defRPr>
            </a:pPr>
            <a:r>
              <a:t>Customer &amp; Regional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583180"/>
            <a:ext cx="296265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2D2D2D"/>
                </a:solidFill>
              </a:defRPr>
            </a:pPr>
            <a:r>
              <a:rPr dirty="0"/>
              <a:t>Borrower profile, regional funding/recovery, state applications, employment and home ownership patterns.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Dashboard Page 1 — Loan Portfolio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The portfolio-level view provides the executive snapshot.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987552"/>
            <a:ext cx="11201400" cy="525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7308" y="1067208"/>
            <a:ext cx="9009460" cy="50984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Page 1 — Portfolio-Level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What the overview page reveals from the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629400" cy="44348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The dataset contains 5,000 loan applications across 3,500 unique customers.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Total requested loan amount is approximately $75.47M, while $66.16M was funded.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Monthly application activity varies over the 2021–2023 application period, supporting time-based monitoring.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Fully Paid loans represent 75.6% of all applications; Current loans account for 11.2%.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Charged Off loans account for 9.2% and Rejected applications for 3.9%.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t>• Debt Consolidation is the largest loan purpose by application volume in the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417320"/>
            <a:ext cx="365760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91271" y="1527048"/>
            <a:ext cx="33284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Portfolio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1271" y="1892808"/>
            <a:ext cx="3328416" cy="941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$66.16M funded across 5,000 applications.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3154680"/>
            <a:ext cx="365760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91271" y="3264408"/>
            <a:ext cx="33284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Application Mix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1" y="3630168"/>
            <a:ext cx="3328416" cy="941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The majority of applications are Fully Paid or Current, while Charged Off and Rejected records form smaller segments.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892040"/>
            <a:ext cx="36576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91271" y="5001768"/>
            <a:ext cx="33284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Use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1" y="5367527"/>
            <a:ext cx="3328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Supports monitoring of portfolio volume, funding activity and loan demand.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Dashboard Page 2 — Loan Quality &amp; Risk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The risk page focuses on loan outcomes and borrower risk indicators.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987552"/>
            <a:ext cx="11201400" cy="525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11" y="1114515"/>
            <a:ext cx="8835215" cy="4994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Page 2 — Loan Quality &amp; Risk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Loan-quality analysis separates rejected applications from the good/bad loan classification.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583680" cy="2947987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rPr dirty="0"/>
              <a:t>• Among non-rejected loans, </a:t>
            </a:r>
            <a:r>
              <a:rPr lang="en-US" dirty="0" smtClean="0"/>
              <a:t>86.8</a:t>
            </a:r>
            <a:r>
              <a:rPr dirty="0" smtClean="0"/>
              <a:t>% </a:t>
            </a:r>
            <a:r>
              <a:rPr dirty="0"/>
              <a:t>are classified as Good Loans and </a:t>
            </a:r>
            <a:r>
              <a:rPr dirty="0" smtClean="0"/>
              <a:t>9.2</a:t>
            </a:r>
            <a:r>
              <a:rPr dirty="0"/>
              <a:t>% as Bad Loans.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rPr dirty="0"/>
              <a:t>• Good Loans account for approximately $</a:t>
            </a:r>
            <a:r>
              <a:rPr dirty="0" smtClean="0"/>
              <a:t>59.</a:t>
            </a:r>
            <a:r>
              <a:rPr lang="en-US" dirty="0" smtClean="0"/>
              <a:t>6</a:t>
            </a:r>
            <a:r>
              <a:rPr dirty="0" smtClean="0"/>
              <a:t>M </a:t>
            </a:r>
            <a:r>
              <a:rPr dirty="0"/>
              <a:t>in funded amount, compared with about $</a:t>
            </a:r>
            <a:r>
              <a:rPr dirty="0" smtClean="0"/>
              <a:t>6.6M </a:t>
            </a:r>
            <a:r>
              <a:rPr dirty="0"/>
              <a:t>for Bad Loans.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rPr dirty="0"/>
              <a:t>• There are 197 rejected applications in the dataset.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rPr dirty="0"/>
              <a:t>• Credit Grade B has the highest application volume in the dashboard.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rPr dirty="0"/>
              <a:t>• Average interest rate declines from higher-risk grades toward lower-risk grades in the displayed grade analysis.</a:t>
            </a:r>
          </a:p>
          <a:p>
            <a:pPr>
              <a:spcAft>
                <a:spcPts val="700"/>
              </a:spcAft>
              <a:defRPr sz="1600">
                <a:solidFill>
                  <a:srgbClr val="2D2D2D"/>
                </a:solidFill>
                <a:latin typeface="Aptos"/>
              </a:defRPr>
            </a:pPr>
            <a:r>
              <a:rPr dirty="0"/>
              <a:t>• The dashboard allows users to compare loan quality across loan purposes using 100% stacked bars.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417320"/>
            <a:ext cx="3749039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99831" y="1527048"/>
            <a:ext cx="34198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Good Loan Mix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9831" y="1892808"/>
            <a:ext cx="3419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rPr lang="en-US" dirty="0" smtClean="0"/>
              <a:t>86.8</a:t>
            </a:r>
            <a:r>
              <a:rPr dirty="0" smtClean="0"/>
              <a:t>% </a:t>
            </a:r>
            <a:r>
              <a:rPr dirty="0"/>
              <a:t>of non-rejected loans are classified as Good Loans.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3063240"/>
            <a:ext cx="3749039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D1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99831" y="3172968"/>
            <a:ext cx="34198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Bad Loan Exposure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9831" y="3538728"/>
            <a:ext cx="3419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rPr dirty="0" smtClean="0"/>
              <a:t>$</a:t>
            </a:r>
            <a:r>
              <a:rPr lang="en-US" dirty="0" smtClean="0"/>
              <a:t>9.2</a:t>
            </a:r>
            <a:r>
              <a:rPr dirty="0" smtClean="0"/>
              <a:t>M </a:t>
            </a:r>
            <a:r>
              <a:rPr dirty="0"/>
              <a:t>was funded to loans classified as Bad Loans.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709160"/>
            <a:ext cx="3749039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99831" y="4818888"/>
            <a:ext cx="34198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A0826"/>
                </a:solidFill>
                <a:latin typeface="Aptos"/>
              </a:defRPr>
            </a:pPr>
            <a:r>
              <a:t>Risk Lens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1" y="5184648"/>
            <a:ext cx="3419856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D2D2D"/>
                </a:solidFill>
                <a:latin typeface="Aptos"/>
              </a:defRPr>
            </a:pPr>
            <a:r>
              <a:t>Grade, interest rate and DTI provide complementary risk signals.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Dashboard Page 3 — Customer &amp; Regional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The customer and regional page connects borrower characteristics with loan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987552"/>
            <a:ext cx="11201400" cy="525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7486" y="1177809"/>
            <a:ext cx="8840988" cy="493952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Cross-Dashboard Insights &amp; Business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49808"/>
            <a:ext cx="11064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96969"/>
                </a:solidFill>
                <a:latin typeface="Aptos"/>
              </a:defRPr>
            </a:pPr>
            <a:r>
              <a:t>Evidence from the three pages can be translated into monitoring priorities.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1554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97280"/>
            <a:ext cx="2240280" cy="347472"/>
          </a:xfrm>
          <a:prstGeom prst="round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1152144"/>
            <a:ext cx="2057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A0826"/>
                </a:solidFill>
                <a:latin typeface="Aptos"/>
              </a:defRPr>
            </a:pPr>
            <a:r>
              <a:t>EVIDENCE-BASED INSIGHTS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5440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682496"/>
            <a:ext cx="1508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D1364"/>
                </a:solidFill>
              </a:defRPr>
            </a:pPr>
            <a:r>
              <a:t>Portfolio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673352"/>
            <a:ext cx="362102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D2D2D"/>
                </a:solidFill>
              </a:defRPr>
            </a:pPr>
            <a:r>
              <a:rPr dirty="0"/>
              <a:t>Track monthly applications, funded amounts and payment recovery to identify changes in activity.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68880"/>
            <a:ext cx="5440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51176"/>
            <a:ext cx="1508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D1364"/>
                </a:solidFill>
              </a:defRPr>
            </a:pPr>
            <a:r>
              <a:t>Loan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542032"/>
            <a:ext cx="3566160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D2D2D"/>
                </a:solidFill>
              </a:defRPr>
            </a:pPr>
            <a:r>
              <a:rPr dirty="0"/>
              <a:t>Monitor the Charged Off segment separately from Rejected applications to distinguish repayment risk from approval outcomes.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37560"/>
            <a:ext cx="5440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419856"/>
            <a:ext cx="1508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D1364"/>
                </a:solidFill>
              </a:defRPr>
            </a:pPr>
            <a:r>
              <a:t>Credit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410712"/>
            <a:ext cx="35661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D2D2D"/>
                </a:solidFill>
              </a:defRPr>
            </a:pPr>
            <a:r>
              <a:rPr dirty="0"/>
              <a:t>Use grade, interest rate and DTI together rather than relying on a single risk indicator.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206240"/>
            <a:ext cx="5440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288536"/>
            <a:ext cx="1508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D1364"/>
                </a:solidFill>
              </a:defRPr>
            </a:pPr>
            <a:r>
              <a:t>Regional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279392"/>
            <a:ext cx="35661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D2D2D"/>
                </a:solidFill>
              </a:defRPr>
            </a:pPr>
            <a:r>
              <a:rPr dirty="0"/>
              <a:t>Compare funding and payment recovery by region and drill into state-level application volume.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74920"/>
            <a:ext cx="544068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EF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5157216"/>
            <a:ext cx="1508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D1364"/>
                </a:solidFill>
              </a:defRPr>
            </a:pPr>
            <a:r>
              <a:t>Customer segmentation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148072"/>
            <a:ext cx="356616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2D2D2D"/>
                </a:solidFill>
              </a:defRPr>
            </a:pPr>
            <a:r>
              <a:rPr dirty="0"/>
              <a:t>Use income, employment length, home ownership and loan purpose to understand borrower segments.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097280"/>
            <a:ext cx="2423160" cy="347472"/>
          </a:xfrm>
          <a:prstGeom prst="roundRect">
            <a:avLst/>
          </a:prstGeom>
          <a:solidFill>
            <a:srgbClr val="FF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1152144"/>
            <a:ext cx="224027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A0826"/>
                </a:solidFill>
                <a:latin typeface="Aptos"/>
              </a:defRPr>
            </a:pPr>
            <a:r>
              <a:t>RECOMMENDED MONITORING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600200"/>
            <a:ext cx="4800600" cy="43891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D2D2D"/>
                </a:solidFill>
                <a:latin typeface="Aptos"/>
              </a:defRPr>
            </a:pPr>
            <a:r>
              <a:t>• Review high-risk loan segments using grade, DTI and loan quality.</a:t>
            </a:r>
          </a:p>
          <a:p>
            <a:pPr>
              <a:spcAft>
                <a:spcPts val="700"/>
              </a:spcAft>
              <a:defRPr sz="1500">
                <a:solidFill>
                  <a:srgbClr val="2D2D2D"/>
                </a:solidFill>
                <a:latin typeface="Aptos"/>
              </a:defRPr>
            </a:pPr>
            <a:r>
              <a:t>• Investigate regions or states with materially different funding or repayment patterns.</a:t>
            </a:r>
          </a:p>
          <a:p>
            <a:pPr>
              <a:spcAft>
                <a:spcPts val="700"/>
              </a:spcAft>
              <a:defRPr sz="1500">
                <a:solidFill>
                  <a:srgbClr val="2D2D2D"/>
                </a:solidFill>
                <a:latin typeface="Aptos"/>
              </a:defRPr>
            </a:pPr>
            <a:r>
              <a:t>• Monitor loan purposes with high application volumes alongside their quality mix.</a:t>
            </a:r>
          </a:p>
          <a:p>
            <a:pPr>
              <a:spcAft>
                <a:spcPts val="700"/>
              </a:spcAft>
              <a:defRPr sz="1500">
                <a:solidFill>
                  <a:srgbClr val="2D2D2D"/>
                </a:solidFill>
                <a:latin typeface="Aptos"/>
              </a:defRPr>
            </a:pPr>
            <a:r>
              <a:t>• Use monthly trend monitoring to identify changes early.</a:t>
            </a:r>
          </a:p>
          <a:p>
            <a:pPr>
              <a:spcAft>
                <a:spcPts val="700"/>
              </a:spcAft>
              <a:defRPr sz="1500">
                <a:solidFill>
                  <a:srgbClr val="2D2D2D"/>
                </a:solidFill>
                <a:latin typeface="Aptos"/>
              </a:defRPr>
            </a:pPr>
            <a:r>
              <a:t>• Refresh the dashboard as new loan records become available.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65392"/>
            <a:ext cx="11183112" cy="18288"/>
          </a:xfrm>
          <a:prstGeom prst="rect">
            <a:avLst/>
          </a:prstGeom>
          <a:solidFill>
            <a:srgbClr val="EFEA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0352" y="6592824"/>
            <a:ext cx="9601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969"/>
                </a:solidFill>
                <a:latin typeface="Aptos"/>
              </a:defRPr>
            </a:pPr>
            <a:r>
              <a:t>Syntecxhub Data Analysis Internship • Bank Loan Analysis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A600"/>
                </a:solidFill>
                <a:latin typeface="Aptos Display"/>
              </a:defRPr>
            </a:pPr>
            <a:r>
              <a:t>PROJECT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16812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FFFFF"/>
                </a:solidFill>
                <a:latin typeface="Aptos"/>
              </a:defRPr>
            </a:pPr>
            <a:r>
              <a:rPr dirty="0"/>
              <a:t>The Bank Loan Analysis project transforms raw loan records into an interactive three-page Power BI dashboard that supports portfolio, risk, </a:t>
            </a:r>
            <a:r>
              <a:rPr dirty="0" smtClean="0"/>
              <a:t>regional</a:t>
            </a:r>
            <a:r>
              <a:rPr lang="en-US" dirty="0" smtClean="0"/>
              <a:t>,</a:t>
            </a:r>
            <a:r>
              <a:rPr dirty="0" smtClean="0"/>
              <a:t> </a:t>
            </a:r>
            <a:r>
              <a:rPr dirty="0"/>
              <a:t>and customer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46120"/>
            <a:ext cx="2423160" cy="502920"/>
          </a:xfrm>
          <a:prstGeom prst="roundRect">
            <a:avLst/>
          </a:prstGeom>
          <a:solidFill>
            <a:srgbClr val="5E1C41"/>
          </a:solidFill>
          <a:ln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3355848"/>
            <a:ext cx="22768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Power 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246120"/>
            <a:ext cx="2423160" cy="502920"/>
          </a:xfrm>
          <a:prstGeom prst="roundRect">
            <a:avLst/>
          </a:prstGeom>
          <a:solidFill>
            <a:srgbClr val="5E1C41"/>
          </a:solidFill>
          <a:ln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47872" y="3355848"/>
            <a:ext cx="22768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Data Cleaning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46120"/>
            <a:ext cx="2423160" cy="502920"/>
          </a:xfrm>
          <a:prstGeom prst="roundRect">
            <a:avLst/>
          </a:prstGeom>
          <a:solidFill>
            <a:srgbClr val="5E1C41"/>
          </a:solidFill>
          <a:ln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3355848"/>
            <a:ext cx="22768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Data Modeling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3246120"/>
            <a:ext cx="2423160" cy="502920"/>
          </a:xfrm>
          <a:prstGeom prst="roundRect">
            <a:avLst/>
          </a:prstGeom>
          <a:solidFill>
            <a:srgbClr val="5E1C41"/>
          </a:solidFill>
          <a:ln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34272" y="3355848"/>
            <a:ext cx="22768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DAX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2423160" cy="502920"/>
          </a:xfrm>
          <a:prstGeom prst="roundRect">
            <a:avLst/>
          </a:prstGeom>
          <a:solidFill>
            <a:srgbClr val="5E1C41"/>
          </a:solidFill>
          <a:ln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4224528"/>
            <a:ext cx="22768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Power BI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114800"/>
            <a:ext cx="2423160" cy="502920"/>
          </a:xfrm>
          <a:prstGeom prst="roundRect">
            <a:avLst/>
          </a:prstGeom>
          <a:solidFill>
            <a:srgbClr val="5E1C41"/>
          </a:solidFill>
          <a:ln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47872" y="4224528"/>
            <a:ext cx="22768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Data Visualization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2423160" cy="502920"/>
          </a:xfrm>
          <a:prstGeom prst="roundRect">
            <a:avLst/>
          </a:prstGeom>
          <a:solidFill>
            <a:srgbClr val="5E1C41"/>
          </a:solidFill>
          <a:ln>
            <a:solidFill>
              <a:srgbClr val="FF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91072" y="4224528"/>
            <a:ext cx="22768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Business Insights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8660" y="5440680"/>
            <a:ext cx="362419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FFA600"/>
                </a:solidFill>
                <a:latin typeface="Aptos Display"/>
              </a:defRPr>
            </a:pPr>
            <a:r>
              <a:rPr dirty="0"/>
              <a:t>Thank you</a:t>
            </a:r>
          </a:p>
          <a:p>
            <a:pPr algn="ctr">
              <a:defRPr sz="1400">
                <a:solidFill>
                  <a:srgbClr val="FFFFFF"/>
                </a:solidFill>
                <a:latin typeface="Aptos"/>
              </a:defRPr>
            </a:pPr>
            <a:r>
              <a:rPr dirty="0"/>
              <a:t>Poweide Abigail Edonkumoh • </a:t>
            </a:r>
            <a:r>
              <a:rPr dirty="0" smtClean="0"/>
              <a:t>Data </a:t>
            </a:r>
            <a:r>
              <a:rPr dirty="0"/>
              <a:t>Analyst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1353</TotalTime>
  <Words>1472</Words>
  <Application>Microsoft Office PowerPoint</Application>
  <PresentationFormat>Widescreen</PresentationFormat>
  <Paragraphs>217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HP</cp:lastModifiedBy>
  <cp:revision>10</cp:revision>
  <dcterms:created xsi:type="dcterms:W3CDTF">2013-01-27T09:14:16Z</dcterms:created>
  <dcterms:modified xsi:type="dcterms:W3CDTF">2026-09-29T09:32:07Z</dcterms:modified>
  <cp:category/>
</cp:coreProperties>
</file>